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uwatomisin Dada" userId="764561e86042d568" providerId="LiveId" clId="{CABEDB61-887F-4786-9521-204A765D6F56}"/>
    <pc:docChg chg="custSel modSld">
      <pc:chgData name="Oluwatomisin Dada" userId="764561e86042d568" providerId="LiveId" clId="{CABEDB61-887F-4786-9521-204A765D6F56}" dt="2026-07-11T18:04:50.941" v="226" actId="1076"/>
      <pc:docMkLst>
        <pc:docMk/>
      </pc:docMkLst>
      <pc:sldChg chg="delSp modSp mod">
        <pc:chgData name="Oluwatomisin Dada" userId="764561e86042d568" providerId="LiveId" clId="{CABEDB61-887F-4786-9521-204A765D6F56}" dt="2026-07-11T17:52:44.087" v="111" actId="14100"/>
        <pc:sldMkLst>
          <pc:docMk/>
          <pc:sldMk cId="0" sldId="256"/>
        </pc:sldMkLst>
        <pc:spChg chg="mod">
          <ac:chgData name="Oluwatomisin Dada" userId="764561e86042d568" providerId="LiveId" clId="{CABEDB61-887F-4786-9521-204A765D6F56}" dt="2026-07-11T17:52:44.087" v="111" actId="14100"/>
          <ac:spMkLst>
            <pc:docMk/>
            <pc:sldMk cId="0" sldId="256"/>
            <ac:spMk id="2" creationId="{00000000-0000-0000-0000-000000000000}"/>
          </ac:spMkLst>
        </pc:spChg>
        <pc:spChg chg="mod">
          <ac:chgData name="Oluwatomisin Dada" userId="764561e86042d568" providerId="LiveId" clId="{CABEDB61-887F-4786-9521-204A765D6F56}" dt="2026-07-11T17:51:55.077" v="58" actId="207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Oluwatomisin Dada" userId="764561e86042d568" providerId="LiveId" clId="{CABEDB61-887F-4786-9521-204A765D6F56}" dt="2026-07-11T17:50:55.588" v="36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Oluwatomisin Dada" userId="764561e86042d568" providerId="LiveId" clId="{CABEDB61-887F-4786-9521-204A765D6F56}" dt="2026-07-11T18:04:21.623" v="222"/>
        <pc:sldMkLst>
          <pc:docMk/>
          <pc:sldMk cId="0" sldId="257"/>
        </pc:sldMkLst>
        <pc:spChg chg="mod">
          <ac:chgData name="Oluwatomisin Dada" userId="764561e86042d568" providerId="LiveId" clId="{CABEDB61-887F-4786-9521-204A765D6F56}" dt="2026-07-11T18:04:21.623" v="222"/>
          <ac:spMkLst>
            <pc:docMk/>
            <pc:sldMk cId="0" sldId="257"/>
            <ac:spMk id="2" creationId="{00000000-0000-0000-0000-000000000000}"/>
          </ac:spMkLst>
        </pc:spChg>
        <pc:spChg chg="mod">
          <ac:chgData name="Oluwatomisin Dada" userId="764561e86042d568" providerId="LiveId" clId="{CABEDB61-887F-4786-9521-204A765D6F56}" dt="2026-07-11T17:58:51.200" v="150" actId="255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Oluwatomisin Dada" userId="764561e86042d568" providerId="LiveId" clId="{CABEDB61-887F-4786-9521-204A765D6F56}" dt="2026-07-11T17:58:02.389" v="149" actId="20577"/>
        <pc:sldMkLst>
          <pc:docMk/>
          <pc:sldMk cId="0" sldId="258"/>
        </pc:sldMkLst>
        <pc:spChg chg="mod">
          <ac:chgData name="Oluwatomisin Dada" userId="764561e86042d568" providerId="LiveId" clId="{CABEDB61-887F-4786-9521-204A765D6F56}" dt="2026-07-11T17:56:16.092" v="134" actId="14100"/>
          <ac:spMkLst>
            <pc:docMk/>
            <pc:sldMk cId="0" sldId="258"/>
            <ac:spMk id="2" creationId="{00000000-0000-0000-0000-000000000000}"/>
          </ac:spMkLst>
        </pc:spChg>
        <pc:spChg chg="mod">
          <ac:chgData name="Oluwatomisin Dada" userId="764561e86042d568" providerId="LiveId" clId="{CABEDB61-887F-4786-9521-204A765D6F56}" dt="2026-07-11T17:58:02.389" v="149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Oluwatomisin Dada" userId="764561e86042d568" providerId="LiveId" clId="{CABEDB61-887F-4786-9521-204A765D6F56}" dt="2026-07-11T18:04:50.941" v="226" actId="1076"/>
        <pc:sldMkLst>
          <pc:docMk/>
          <pc:sldMk cId="0" sldId="259"/>
        </pc:sldMkLst>
        <pc:spChg chg="mod">
          <ac:chgData name="Oluwatomisin Dada" userId="764561e86042d568" providerId="LiveId" clId="{CABEDB61-887F-4786-9521-204A765D6F56}" dt="2026-07-11T18:04:41.608" v="225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Oluwatomisin Dada" userId="764561e86042d568" providerId="LiveId" clId="{CABEDB61-887F-4786-9521-204A765D6F56}" dt="2026-07-11T18:04:50.941" v="226" actId="1076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Oluwatomisin Dada" userId="764561e86042d568" providerId="LiveId" clId="{CABEDB61-887F-4786-9521-204A765D6F56}" dt="2026-07-11T18:04:21.623" v="222"/>
        <pc:sldMkLst>
          <pc:docMk/>
          <pc:sldMk cId="0" sldId="260"/>
        </pc:sldMkLst>
        <pc:spChg chg="mod">
          <ac:chgData name="Oluwatomisin Dada" userId="764561e86042d568" providerId="LiveId" clId="{CABEDB61-887F-4786-9521-204A765D6F56}" dt="2026-07-11T18:04:21.623" v="222"/>
          <ac:spMkLst>
            <pc:docMk/>
            <pc:sldMk cId="0" sldId="260"/>
            <ac:spMk id="2" creationId="{00000000-0000-0000-0000-000000000000}"/>
          </ac:spMkLst>
        </pc:spChg>
        <pc:spChg chg="mod">
          <ac:chgData name="Oluwatomisin Dada" userId="764561e86042d568" providerId="LiveId" clId="{CABEDB61-887F-4786-9521-204A765D6F56}" dt="2026-07-11T18:00:18.938" v="154" actId="255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Oluwatomisin Dada" userId="764561e86042d568" providerId="LiveId" clId="{CABEDB61-887F-4786-9521-204A765D6F56}" dt="2026-07-11T18:04:21.623" v="222"/>
        <pc:sldMkLst>
          <pc:docMk/>
          <pc:sldMk cId="0" sldId="261"/>
        </pc:sldMkLst>
        <pc:spChg chg="mod">
          <ac:chgData name="Oluwatomisin Dada" userId="764561e86042d568" providerId="LiveId" clId="{CABEDB61-887F-4786-9521-204A765D6F56}" dt="2026-07-11T18:04:21.623" v="222"/>
          <ac:spMkLst>
            <pc:docMk/>
            <pc:sldMk cId="0" sldId="261"/>
            <ac:spMk id="2" creationId="{00000000-0000-0000-0000-000000000000}"/>
          </ac:spMkLst>
        </pc:spChg>
        <pc:spChg chg="mod">
          <ac:chgData name="Oluwatomisin Dada" userId="764561e86042d568" providerId="LiveId" clId="{CABEDB61-887F-4786-9521-204A765D6F56}" dt="2026-07-11T18:01:09.227" v="171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Oluwatomisin Dada" userId="764561e86042d568" providerId="LiveId" clId="{CABEDB61-887F-4786-9521-204A765D6F56}" dt="2026-07-11T18:04:21.623" v="222"/>
        <pc:sldMkLst>
          <pc:docMk/>
          <pc:sldMk cId="0" sldId="262"/>
        </pc:sldMkLst>
        <pc:spChg chg="mod">
          <ac:chgData name="Oluwatomisin Dada" userId="764561e86042d568" providerId="LiveId" clId="{CABEDB61-887F-4786-9521-204A765D6F56}" dt="2026-07-11T18:04:21.623" v="222"/>
          <ac:spMkLst>
            <pc:docMk/>
            <pc:sldMk cId="0" sldId="262"/>
            <ac:spMk id="2" creationId="{00000000-0000-0000-0000-000000000000}"/>
          </ac:spMkLst>
        </pc:spChg>
        <pc:spChg chg="mod">
          <ac:chgData name="Oluwatomisin Dada" userId="764561e86042d568" providerId="LiveId" clId="{CABEDB61-887F-4786-9521-204A765D6F56}" dt="2026-07-11T18:02:33.960" v="205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Oluwatomisin Dada" userId="764561e86042d568" providerId="LiveId" clId="{CABEDB61-887F-4786-9521-204A765D6F56}" dt="2026-07-11T18:04:21.623" v="222"/>
        <pc:sldMkLst>
          <pc:docMk/>
          <pc:sldMk cId="0" sldId="263"/>
        </pc:sldMkLst>
        <pc:spChg chg="mod">
          <ac:chgData name="Oluwatomisin Dada" userId="764561e86042d568" providerId="LiveId" clId="{CABEDB61-887F-4786-9521-204A765D6F56}" dt="2026-07-11T18:04:21.623" v="222"/>
          <ac:spMkLst>
            <pc:docMk/>
            <pc:sldMk cId="0" sldId="263"/>
            <ac:spMk id="2" creationId="{00000000-0000-0000-0000-000000000000}"/>
          </ac:spMkLst>
        </pc:spChg>
        <pc:spChg chg="mod">
          <ac:chgData name="Oluwatomisin Dada" userId="764561e86042d568" providerId="LiveId" clId="{CABEDB61-887F-4786-9521-204A765D6F56}" dt="2026-07-11T18:03:38.863" v="221" actId="20577"/>
          <ac:spMkLst>
            <pc:docMk/>
            <pc:sldMk cId="0" sldId="263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565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926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948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2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843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771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130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505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001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459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82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494713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3910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1707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910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10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798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6792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799" y="435429"/>
            <a:ext cx="7979229" cy="4234541"/>
          </a:xfrm>
        </p:spPr>
        <p:txBody>
          <a:bodyPr>
            <a:normAutofit/>
          </a:bodyPr>
          <a:lstStyle/>
          <a:p>
            <a:pPr>
              <a:defRPr sz="2800" b="1"/>
            </a:pPr>
            <a:r>
              <a:rPr lang="en-US" dirty="0"/>
              <a:t>Business Analytics Case Study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Telco Customer Churn Analysis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AnalystLab</a:t>
            </a:r>
            <a:r>
              <a:rPr lang="en-US" dirty="0"/>
              <a:t> Africa Internship Program – Batch B</a:t>
            </a:r>
            <a:br>
              <a:rPr lang="en-US" dirty="0"/>
            </a:b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669970"/>
            <a:ext cx="6400800" cy="1948543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Prepared by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Dada Oluwatomisin </a:t>
            </a:r>
            <a:r>
              <a:rPr lang="en-US" dirty="0" err="1">
                <a:solidFill>
                  <a:schemeClr val="tx1"/>
                </a:solidFill>
              </a:rPr>
              <a:t>Rinuola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5</a:t>
            </a:r>
            <a:r>
              <a:rPr lang="en-US" baseline="30000" dirty="0">
                <a:solidFill>
                  <a:schemeClr val="tx1"/>
                </a:solidFill>
              </a:rPr>
              <a:t>th</a:t>
            </a:r>
            <a:r>
              <a:rPr lang="en-US" dirty="0">
                <a:solidFill>
                  <a:schemeClr val="tx1"/>
                </a:solidFill>
              </a:rPr>
              <a:t> July 2026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2800" b="1"/>
            </a:pPr>
            <a:r>
              <a:rPr sz="4000" dirty="0"/>
              <a:t>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417638"/>
            <a:ext cx="7874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rPr lang="en-US" sz="2800" dirty="0"/>
              <a:t>   </a:t>
            </a:r>
            <a:r>
              <a:rPr sz="2400" dirty="0"/>
              <a:t>Customer churn is a major challenge for telecom companies because it leads to revenue loss and higher customer acquisition costs.</a:t>
            </a:r>
            <a:br>
              <a:rPr sz="2400" dirty="0"/>
            </a:br>
            <a:br>
              <a:rPr sz="2400" dirty="0"/>
            </a:br>
            <a:r>
              <a:rPr lang="en-US" sz="2400" dirty="0"/>
              <a:t>  </a:t>
            </a:r>
            <a:r>
              <a:rPr sz="2400" dirty="0"/>
              <a:t>This project identifies the major factors contributing to customer churn.</a:t>
            </a:r>
            <a:br>
              <a:rPr sz="2400" dirty="0"/>
            </a:br>
            <a:br>
              <a:rPr sz="2400" dirty="0"/>
            </a:br>
            <a:r>
              <a:rPr sz="2400" dirty="0"/>
              <a:t> The goal is to provide practical, data-driven recommendations to improve customer retention</a:t>
            </a:r>
            <a:r>
              <a:rPr sz="280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098971" cy="903514"/>
          </a:xfrm>
        </p:spPr>
        <p:txBody>
          <a:bodyPr/>
          <a:lstStyle/>
          <a:p>
            <a:pPr>
              <a:defRPr sz="2800" b="1"/>
            </a:pPr>
            <a:r>
              <a:rPr dirty="0"/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55914"/>
            <a:ext cx="9071429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rPr sz="2800" dirty="0"/>
              <a:t> </a:t>
            </a:r>
            <a:r>
              <a:rPr sz="2400" dirty="0"/>
              <a:t>Dataset: Telco Customer Churn (Kaggle)</a:t>
            </a:r>
            <a:br>
              <a:rPr sz="2400" dirty="0"/>
            </a:br>
            <a:br>
              <a:rPr sz="2400" dirty="0"/>
            </a:br>
            <a:r>
              <a:rPr lang="en-US" sz="2400" dirty="0"/>
              <a:t>  </a:t>
            </a:r>
            <a:r>
              <a:rPr sz="2400" dirty="0"/>
              <a:t> Initial records: 7,043</a:t>
            </a:r>
            <a:br>
              <a:rPr sz="2400" dirty="0"/>
            </a:br>
            <a:r>
              <a:rPr lang="en-US" sz="2400" dirty="0"/>
              <a:t>  </a:t>
            </a:r>
            <a:r>
              <a:rPr sz="2400" dirty="0"/>
              <a:t> Records after cleaning: 7,032</a:t>
            </a:r>
            <a:br>
              <a:rPr sz="2400" dirty="0"/>
            </a:br>
            <a:br>
              <a:rPr sz="2400" dirty="0"/>
            </a:br>
            <a:r>
              <a:rPr lang="en-US" sz="2400" dirty="0"/>
              <a:t>  </a:t>
            </a:r>
            <a:r>
              <a:rPr sz="2400" dirty="0"/>
              <a:t> Target variable: Churn</a:t>
            </a:r>
            <a:br>
              <a:rPr sz="2400" dirty="0"/>
            </a:br>
            <a:br>
              <a:rPr sz="2400" dirty="0"/>
            </a:br>
            <a:r>
              <a:rPr lang="en-US" sz="2400" dirty="0"/>
              <a:t>   </a:t>
            </a:r>
            <a:r>
              <a:rPr sz="2400" dirty="0"/>
              <a:t> Features analyzed:</a:t>
            </a:r>
            <a:br>
              <a:rPr sz="2400" dirty="0"/>
            </a:br>
            <a:r>
              <a:rPr sz="2400" dirty="0"/>
              <a:t>  - Contract Type</a:t>
            </a:r>
            <a:br>
              <a:rPr sz="2400" dirty="0"/>
            </a:br>
            <a:r>
              <a:rPr sz="2400" dirty="0"/>
              <a:t>  - Internet Service</a:t>
            </a:r>
            <a:br>
              <a:rPr sz="2400" dirty="0"/>
            </a:br>
            <a:r>
              <a:rPr sz="2400" dirty="0"/>
              <a:t>  - Payment Method</a:t>
            </a:r>
            <a:br>
              <a:rPr sz="2400" dirty="0"/>
            </a:br>
            <a:r>
              <a:rPr sz="2400" dirty="0"/>
              <a:t>  - Online Security</a:t>
            </a:r>
            <a:br>
              <a:rPr sz="2400" dirty="0"/>
            </a:br>
            <a:r>
              <a:rPr sz="2400" dirty="0"/>
              <a:t>  - Monthly Charges</a:t>
            </a:r>
            <a:br>
              <a:rPr sz="2400" dirty="0"/>
            </a:br>
            <a:r>
              <a:rPr sz="2400" dirty="0"/>
              <a:t>  - Tenure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rPr dirty="0"/>
              <a:t>Data Cleaning &amp; Exploratory Data Analysis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84710" y="1669142"/>
            <a:ext cx="7874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rPr dirty="0"/>
              <a:t>• </a:t>
            </a:r>
            <a:r>
              <a:rPr sz="2400" dirty="0"/>
              <a:t>Converted </a:t>
            </a:r>
            <a:r>
              <a:rPr sz="2400" dirty="0" err="1"/>
              <a:t>TotalCharges</a:t>
            </a:r>
            <a:r>
              <a:rPr sz="2400" dirty="0"/>
              <a:t> from text to numeric.</a:t>
            </a:r>
            <a:br>
              <a:rPr sz="2400" dirty="0"/>
            </a:br>
            <a:br>
              <a:rPr sz="2400" dirty="0"/>
            </a:br>
            <a:r>
              <a:rPr sz="2400" dirty="0"/>
              <a:t>• Removed 11 records with missing values.</a:t>
            </a:r>
            <a:br>
              <a:rPr sz="2400" dirty="0"/>
            </a:br>
            <a:br>
              <a:rPr sz="2400" dirty="0"/>
            </a:br>
            <a:r>
              <a:rPr sz="2400" dirty="0"/>
              <a:t>• Verified that there were no duplicate records.</a:t>
            </a:r>
            <a:br>
              <a:rPr sz="2400" dirty="0"/>
            </a:br>
            <a:br>
              <a:rPr sz="2400" dirty="0"/>
            </a:br>
            <a:r>
              <a:rPr sz="2400" dirty="0"/>
              <a:t>• Performed descriptive statistics and exploratory analysis using bar charts and count plots.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6486" y="1417638"/>
            <a:ext cx="7874000" cy="419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rPr sz="2400" dirty="0"/>
              <a:t>• Overall churn rate: 26.58%</a:t>
            </a:r>
            <a:br>
              <a:rPr sz="2400" dirty="0"/>
            </a:br>
            <a:br>
              <a:rPr sz="2400" dirty="0"/>
            </a:br>
            <a:r>
              <a:rPr sz="2400" dirty="0"/>
              <a:t>• Month-to-month customers had the highest churn.</a:t>
            </a:r>
            <a:br>
              <a:rPr sz="2400" dirty="0"/>
            </a:br>
            <a:br>
              <a:rPr sz="2400" dirty="0"/>
            </a:br>
            <a:r>
              <a:rPr sz="2400" dirty="0"/>
              <a:t>• Fiber optic customers churned significantly more than DSL customers.</a:t>
            </a:r>
            <a:br>
              <a:rPr sz="2400" dirty="0"/>
            </a:br>
            <a:br>
              <a:rPr sz="2400" dirty="0"/>
            </a:br>
            <a:r>
              <a:rPr sz="2400" dirty="0"/>
              <a:t>• Customers using electronic checks had the highest churn.</a:t>
            </a:r>
            <a:br>
              <a:rPr sz="2400" dirty="0"/>
            </a:br>
            <a:br>
              <a:rPr sz="2400" dirty="0"/>
            </a:br>
            <a:r>
              <a:rPr sz="2400" dirty="0"/>
              <a:t>• Customers without online security were much more likely to leave.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17638"/>
            <a:ext cx="7874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rPr dirty="0"/>
              <a:t>• </a:t>
            </a:r>
            <a:r>
              <a:rPr sz="2400" dirty="0"/>
              <a:t>Long-term contracts improve customer retention.</a:t>
            </a:r>
            <a:br>
              <a:rPr sz="2400" dirty="0"/>
            </a:br>
            <a:br>
              <a:rPr sz="2400" dirty="0"/>
            </a:br>
            <a:r>
              <a:rPr sz="2400" dirty="0"/>
              <a:t>• Certain customer segments are at higher risk of churning.</a:t>
            </a:r>
            <a:br>
              <a:rPr sz="2400" dirty="0"/>
            </a:br>
            <a:br>
              <a:rPr sz="2400" dirty="0"/>
            </a:br>
            <a:r>
              <a:rPr sz="2400" dirty="0"/>
              <a:t>• Payment </a:t>
            </a:r>
            <a:r>
              <a:rPr lang="en-US" sz="2400" dirty="0"/>
              <a:t>method</a:t>
            </a:r>
            <a:r>
              <a:rPr sz="2400" dirty="0"/>
              <a:t> and service subscriptions strongly influence customer loyalty.</a:t>
            </a:r>
            <a:br>
              <a:rPr sz="2400" dirty="0"/>
            </a:br>
            <a:br>
              <a:rPr sz="2400" dirty="0"/>
            </a:br>
            <a:r>
              <a:rPr sz="2400" dirty="0"/>
              <a:t>• Proactive retention strategies should target high-risk customers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6486" y="1417638"/>
            <a:ext cx="7874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  <a:defRPr sz="2000" b="1"/>
            </a:pPr>
            <a:r>
              <a:rPr sz="2400" dirty="0"/>
              <a:t> Encourage customers to switch to one-year or two-year contracts.</a:t>
            </a:r>
            <a:endParaRPr lang="en-US" sz="2400" dirty="0"/>
          </a:p>
          <a:p>
            <a:pPr algn="l">
              <a:defRPr sz="2000" b="1"/>
            </a:pPr>
            <a:endParaRPr lang="en-US" sz="2400" dirty="0"/>
          </a:p>
          <a:p>
            <a:pPr marL="342900" indent="-342900" algn="l">
              <a:buFont typeface="Arial" panose="020B0604020202020204" pitchFamily="34" charset="0"/>
              <a:buChar char="•"/>
              <a:defRPr sz="2000" b="1"/>
            </a:pPr>
            <a:r>
              <a:rPr sz="2400" dirty="0"/>
              <a:t>Investigate the reasons for high churn among fiber optic customers.</a:t>
            </a:r>
            <a:endParaRPr lang="en-US" sz="2400" dirty="0"/>
          </a:p>
          <a:p>
            <a:pPr marL="342900" indent="-342900" algn="l">
              <a:buFont typeface="Arial" panose="020B0604020202020204" pitchFamily="34" charset="0"/>
              <a:buChar char="•"/>
              <a:defRPr sz="2000" b="1"/>
            </a:pPr>
            <a:endParaRPr lang="en-US" sz="2400" dirty="0"/>
          </a:p>
          <a:p>
            <a:pPr marL="342900" indent="-342900" algn="l">
              <a:buFont typeface="Arial" panose="020B0604020202020204" pitchFamily="34" charset="0"/>
              <a:buChar char="•"/>
              <a:defRPr sz="2000" b="1"/>
            </a:pPr>
            <a:r>
              <a:rPr sz="2400" dirty="0"/>
              <a:t>Promote automatic payment methods.</a:t>
            </a:r>
            <a:endParaRPr lang="en-US" sz="2400" dirty="0"/>
          </a:p>
          <a:p>
            <a:pPr marL="342900" indent="-342900" algn="l">
              <a:buFont typeface="Arial" panose="020B0604020202020204" pitchFamily="34" charset="0"/>
              <a:buChar char="•"/>
              <a:defRPr sz="2000" b="1"/>
            </a:pPr>
            <a:endParaRPr lang="en-US" sz="2400" dirty="0"/>
          </a:p>
          <a:p>
            <a:pPr marL="342900" indent="-342900" algn="l">
              <a:buFont typeface="Arial" panose="020B0604020202020204" pitchFamily="34" charset="0"/>
              <a:buChar char="•"/>
              <a:defRPr sz="2000" b="1"/>
            </a:pPr>
            <a:r>
              <a:rPr sz="2400" dirty="0"/>
              <a:t>Bundle online security with internet packages.</a:t>
            </a:r>
            <a:endParaRPr lang="en-US" sz="2400" dirty="0"/>
          </a:p>
          <a:p>
            <a:pPr marL="342900" indent="-342900" algn="l">
              <a:buFont typeface="Arial" panose="020B0604020202020204" pitchFamily="34" charset="0"/>
              <a:buChar char="•"/>
              <a:defRPr sz="2000" b="1"/>
            </a:pPr>
            <a:endParaRPr lang="en-US" sz="2400" dirty="0"/>
          </a:p>
          <a:p>
            <a:pPr marL="342900" indent="-342900" algn="l">
              <a:buFont typeface="Arial" panose="020B0604020202020204" pitchFamily="34" charset="0"/>
              <a:buChar char="•"/>
              <a:defRPr sz="2000" b="1"/>
            </a:pPr>
            <a:r>
              <a:rPr sz="2400" dirty="0"/>
              <a:t>Launch targeted retention campaigns for customers identified as high risk.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rPr dirty="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33500"/>
            <a:ext cx="7874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  <a:defRPr sz="2000" b="1"/>
            </a:pPr>
            <a:r>
              <a:rPr sz="2400" dirty="0"/>
              <a:t> The analysis successfully identified the major drivers of customer churn.</a:t>
            </a:r>
            <a:endParaRPr lang="en-US" sz="2400" dirty="0"/>
          </a:p>
          <a:p>
            <a:pPr marL="342900" indent="-342900" algn="l">
              <a:buFont typeface="Arial" panose="020B0604020202020204" pitchFamily="34" charset="0"/>
              <a:buChar char="•"/>
              <a:defRPr sz="2000" b="1"/>
            </a:pPr>
            <a:endParaRPr lang="en-US" sz="2400" dirty="0"/>
          </a:p>
          <a:p>
            <a:pPr marL="342900" indent="-342900" algn="l">
              <a:buFont typeface="Arial" panose="020B0604020202020204" pitchFamily="34" charset="0"/>
              <a:buChar char="•"/>
              <a:defRPr sz="2000" b="1"/>
            </a:pPr>
            <a:r>
              <a:rPr sz="2400" dirty="0"/>
              <a:t>Contract type, internet service, payment method and online security were the strongest predictors.</a:t>
            </a:r>
            <a:endParaRPr lang="en-US" sz="2400" dirty="0"/>
          </a:p>
          <a:p>
            <a:pPr marL="342900" indent="-342900" algn="l">
              <a:buFont typeface="Arial" panose="020B0604020202020204" pitchFamily="34" charset="0"/>
              <a:buChar char="•"/>
              <a:defRPr sz="2000" b="1"/>
            </a:pPr>
            <a:endParaRPr lang="en-US" sz="2400" dirty="0"/>
          </a:p>
          <a:p>
            <a:pPr marL="342900" indent="-342900" algn="l">
              <a:buFont typeface="Arial" panose="020B0604020202020204" pitchFamily="34" charset="0"/>
              <a:buChar char="•"/>
              <a:defRPr sz="2000" b="1"/>
            </a:pPr>
            <a:r>
              <a:rPr sz="2400" dirty="0"/>
              <a:t>Implementing targeted retention strategies can improve customer loyalty and reduce churn.</a:t>
            </a:r>
            <a:br>
              <a:rPr sz="2400" dirty="0"/>
            </a:br>
            <a:br>
              <a:rPr sz="2400" dirty="0"/>
            </a:br>
            <a:r>
              <a:rPr sz="2400" dirty="0"/>
              <a:t>Thank You.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16</TotalTime>
  <Words>401</Words>
  <Application>Microsoft Office PowerPoint</Application>
  <PresentationFormat>On-screen Show (4:3)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Ion</vt:lpstr>
      <vt:lpstr>Business Analytics Case Study  Telco Customer Churn Analysis  AnalystLab Africa Internship Program – Batch B </vt:lpstr>
      <vt:lpstr>Business Problem</vt:lpstr>
      <vt:lpstr>Dataset Overview</vt:lpstr>
      <vt:lpstr>Data Cleaning &amp; Exploratory Data Analysis   </vt:lpstr>
      <vt:lpstr>Key Findings</vt:lpstr>
      <vt:lpstr>Business Insights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Oluwatomisin Dada</cp:lastModifiedBy>
  <cp:revision>1</cp:revision>
  <dcterms:created xsi:type="dcterms:W3CDTF">2013-01-27T09:14:16Z</dcterms:created>
  <dcterms:modified xsi:type="dcterms:W3CDTF">2026-07-11T18:05:11Z</dcterms:modified>
  <cp:category/>
</cp:coreProperties>
</file>